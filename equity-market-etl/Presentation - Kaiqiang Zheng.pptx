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Arial Bold" panose="020B0704020202020204" pitchFamily="34" charset="0"/>
      <p:regular r:id="rId19"/>
      <p:bold r:id="rId20"/>
    </p:embeddedFont>
    <p:embeddedFont>
      <p:font typeface="Canva Sans Bold" panose="02010600030101010101" charset="0"/>
      <p:regular r:id="rId21"/>
    </p:embeddedFont>
    <p:embeddedFont>
      <p:font typeface="Clear Sans Medium" panose="02010600030101010101" charset="0"/>
      <p:regular r:id="rId22"/>
    </p:embeddedFont>
    <p:embeddedFont>
      <p:font typeface="HK Grotesk" panose="02010600030101010101" charset="0"/>
      <p:regular r:id="rId23"/>
    </p:embeddedFont>
    <p:embeddedFont>
      <p:font typeface="Noto Serif Display ExtraCondensed Light" panose="02010600030101010101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66667" autoAdjust="0"/>
  </p:normalViewPr>
  <p:slideViewPr>
    <p:cSldViewPr>
      <p:cViewPr varScale="1">
        <p:scale>
          <a:sx n="28" d="100"/>
          <a:sy n="28" d="100"/>
        </p:scale>
        <p:origin x="158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Today I’ll walk through a batch ETL pipeline I built for equity market data.</a:t>
            </a:r>
          </a:p>
          <a:p>
            <a:endParaRPr lang="en-US"/>
          </a:p>
          <a:p>
            <a:r>
              <a:rPr lang="en-US"/>
              <a:t>The goal of this project is to transform raw daily stock price files into analytics-ready datasets using a production-style architecture with Airflow and Spark.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 asset management, investment and research teams rely heavily on accurate and reproducible market data.</a:t>
            </a:r>
          </a:p>
          <a:p>
            <a:endParaRPr lang="en-US"/>
          </a:p>
          <a:p>
            <a:r>
              <a:rPr lang="en-US"/>
              <a:t>However, raw market data often arrives as many independent files, with inconsistent quality, missing values, and corporate actions such as splits and dividends.</a:t>
            </a:r>
          </a:p>
          <a:p>
            <a:endParaRPr lang="en-US"/>
          </a:p>
          <a:p>
            <a:r>
              <a:rPr lang="en-US"/>
              <a:t>This makes ad-hoc analysis unreliable and difficult to scale.</a:t>
            </a:r>
          </a:p>
          <a:p>
            <a:endParaRPr lang="en-US"/>
          </a:p>
          <a:p>
            <a:r>
              <a:rPr lang="en-US"/>
              <a:t>The motivation of this project is to build a repeatable, auditable batch pipeline that produces trusted datasets for downstream analytics.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This question can be analyzed at different levels — across the entire market, by sector, by industry, or even by ETFs.</a:t>
            </a:r>
          </a:p>
          <a:p>
            <a:endParaRPr lang="en-US"/>
          </a:p>
          <a:p>
            <a:r>
              <a:rPr lang="en-US"/>
              <a:t>To answer this reliably, we need clean, joined, and analytics-ready market data.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pipeline follows a Medallion Architecture with Bronze, Silver, and Gold layers.</a:t>
            </a:r>
          </a:p>
          <a:p>
            <a:endParaRPr lang="en-US"/>
          </a:p>
          <a:p>
            <a:r>
              <a:rPr lang="en-US"/>
              <a:t>The Bronze layer preserves raw data as-is for auditability.</a:t>
            </a:r>
          </a:p>
          <a:p>
            <a:endParaRPr lang="en-US"/>
          </a:p>
          <a:p>
            <a:r>
              <a:rPr lang="en-US"/>
              <a:t>The Silver layer applies schema normalization, deduplication, and business-rule validation to produce trusted datasets.</a:t>
            </a:r>
          </a:p>
          <a:p>
            <a:endParaRPr lang="en-US"/>
          </a:p>
          <a:p>
            <a:r>
              <a:rPr lang="en-US"/>
              <a:t>The Gold layer enriches the data and computes analytics-ready metrics for consumption by analysts or downstream systems.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pipeline ingests two primary data sources.</a:t>
            </a:r>
          </a:p>
          <a:p>
            <a:endParaRPr lang="en-US"/>
          </a:p>
          <a:p>
            <a:r>
              <a:rPr lang="en-US"/>
              <a:t>First, company reference data, which includes sector, industry, exchange, and market capitalization. This acts as a dimension table.</a:t>
            </a:r>
          </a:p>
          <a:p>
            <a:endParaRPr lang="en-US"/>
          </a:p>
          <a:p>
            <a:r>
              <a:rPr lang="en-US"/>
              <a:t>Second, daily price data, where each ticker is delivered as a separate CSV file containing OHLCV values.</a:t>
            </a:r>
          </a:p>
          <a:p>
            <a:endParaRPr lang="en-US"/>
          </a:p>
          <a:p>
            <a:r>
              <a:rPr lang="en-US"/>
              <a:t>This file-per-ticker structure is common in financial data and scales naturally as new assets are added.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 the Bronze layer, raw CSV files are ingested and persisted as Parquet without applying any business logic.</a:t>
            </a:r>
          </a:p>
          <a:p>
            <a:endParaRPr lang="en-US"/>
          </a:p>
          <a:p>
            <a:r>
              <a:rPr lang="en-US"/>
              <a:t>For price data, the ticker symbol is extracted from the file name and stored as a column, which enables partitioning and scalability.</a:t>
            </a:r>
          </a:p>
          <a:p>
            <a:endParaRPr lang="en-US"/>
          </a:p>
          <a:p>
            <a:r>
              <a:rPr lang="en-US"/>
              <a:t>Parquet is used at this stage purely for efficient storage and downstream processing, while preserving the original data semantics.</a:t>
            </a:r>
          </a:p>
          <a:p>
            <a:endParaRPr lang="en-US"/>
          </a:p>
          <a:p>
            <a:r>
              <a:rPr lang="en-US"/>
              <a:t>No transformations or filters are applied at this stage — the goal is to preserve the raw source for reproducibility and reprocessing.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Silver layer is where data becomes trustworthy.</a:t>
            </a:r>
          </a:p>
          <a:p>
            <a:endParaRPr lang="en-US"/>
          </a:p>
          <a:p>
            <a:r>
              <a:rPr lang="en-US"/>
              <a:t>Here, Spark enforces explicit data types, normalizes column names, removes duplicates, and applies business rules such as non-negative prices and valid trading volumes.</a:t>
            </a:r>
          </a:p>
          <a:p>
            <a:endParaRPr lang="en-US"/>
          </a:p>
          <a:p>
            <a:r>
              <a:rPr lang="en-US"/>
              <a:t>This layer also ensures that each ticker has at most one record per trading day, which is critical for financial time-series analysis.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 the Gold layer, price data is joined with company metadata to enrich each record with sector and industry information.</a:t>
            </a:r>
          </a:p>
          <a:p>
            <a:endParaRPr lang="en-US"/>
          </a:p>
          <a:p>
            <a:r>
              <a:rPr lang="en-US"/>
              <a:t>Using adjusted close prices, the pipeline computes daily returns, which are robust to corporate actions.</a:t>
            </a:r>
          </a:p>
          <a:p>
            <a:endParaRPr lang="en-US"/>
          </a:p>
          <a:p>
            <a:r>
              <a:rPr lang="en-US"/>
              <a:t>In addition, aggregated analytics such as sector-level average returns are produced for downstream analysis and reporting.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Airflow Pipeline Orchestration</a:t>
            </a:r>
          </a:p>
          <a:p>
            <a:endParaRPr lang="en-US"/>
          </a:p>
          <a:p>
            <a:r>
              <a:rPr lang="en-US"/>
              <a:t>Airflow manages the entire pipeline through a daily batch Directed Acyclic Graph (DAG). </a:t>
            </a:r>
          </a:p>
          <a:p>
            <a:endParaRPr lang="en-US"/>
          </a:p>
          <a:p>
            <a:r>
              <a:rPr lang="en-US"/>
              <a:t>Ingestion tasks for prices and companies run in parallel, followed by quality checks that act as gates between layers.</a:t>
            </a:r>
          </a:p>
          <a:p>
            <a:endParaRPr lang="en-US"/>
          </a:p>
          <a:p>
            <a:r>
              <a:rPr lang="en-US"/>
              <a:t>Transformations will only take place if the upstream validations are successful, ensuring that faulty data does not continue downstream.</a:t>
            </a:r>
          </a:p>
          <a:p>
            <a:endParaRPr lang="en-US"/>
          </a:p>
          <a:p>
            <a:r>
              <a:rPr lang="en-US"/>
              <a:t>- Operational Robustness: </a:t>
            </a:r>
          </a:p>
          <a:p>
            <a:r>
              <a:rPr lang="en-US"/>
              <a:t>  - The DAG is equipped with retry logic and failure callbacks to enhance reliability.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Data quality is enforced at multiple stages.</a:t>
            </a:r>
          </a:p>
          <a:p>
            <a:endParaRPr lang="en-US"/>
          </a:p>
          <a:p>
            <a:r>
              <a:rPr lang="en-US"/>
              <a:t>Bronze checks validate structural integrity, such as schema presence and non-empty datasets.</a:t>
            </a:r>
          </a:p>
          <a:p>
            <a:endParaRPr lang="en-US"/>
          </a:p>
          <a:p>
            <a:r>
              <a:rPr lang="en-US"/>
              <a:t>Silver checks enforce business rules, including null checks, price sanity checks, and uniqueness constraints.</a:t>
            </a:r>
          </a:p>
          <a:p>
            <a:endParaRPr lang="en-US"/>
          </a:p>
          <a:p>
            <a:r>
              <a:rPr lang="en-US"/>
              <a:t>Gold checks ensure enrichment joins succeeded, for example by verifying that sector information is present.</a:t>
            </a:r>
          </a:p>
          <a:p>
            <a:endParaRPr lang="en-US"/>
          </a:p>
          <a:p>
            <a:r>
              <a:rPr lang="en-US"/>
              <a:t>Any failure halts downstream execution immediately.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 addition to the pipeline itself, the project also includes unit tests to support future CI/CD integration.</a:t>
            </a:r>
          </a:p>
          <a:p>
            <a:endParaRPr lang="en-US"/>
          </a:p>
          <a:p>
            <a:r>
              <a:rPr lang="en-US"/>
              <a:t>Pytest is used to validate configuration logic and data quality rules independently from Airflow execution.</a:t>
            </a:r>
          </a:p>
          <a:p>
            <a:endParaRPr lang="en-US"/>
          </a:p>
          <a:p>
            <a:r>
              <a:rPr lang="en-US"/>
              <a:t>These tests reuse the same data quality functions that are executed in the production DAG, which ensures consistency between development, testing, and runtime behavior.</a:t>
            </a:r>
          </a:p>
          <a:p>
            <a:endParaRPr lang="en-US"/>
          </a:p>
          <a:p>
            <a:r>
              <a:rPr lang="en-US"/>
              <a:t>This design allows the project to be easily integrated into a GitHub Actions workflow, where tests can be executed automatically on each commit or pull request before deployment.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The pipeline is designed to scale horizontally.</a:t>
            </a:r>
          </a:p>
          <a:p>
            <a:endParaRPr lang="en-US"/>
          </a:p>
          <a:p>
            <a:r>
              <a:rPr lang="en-US"/>
              <a:t>Partitioning by ticker allows efficient access patterns and parallelism.</a:t>
            </a:r>
          </a:p>
          <a:p>
            <a:endParaRPr lang="en-US"/>
          </a:p>
          <a:p>
            <a:r>
              <a:rPr lang="en-US"/>
              <a:t>All 3 layers use the parquet storage format. Parquet is used for Silver and Gold layers to enable columnar storage and efficient analytics.</a:t>
            </a:r>
          </a:p>
          <a:p>
            <a:endParaRPr lang="en-US"/>
          </a:p>
          <a:p>
            <a:r>
              <a:rPr lang="en-US"/>
              <a:t>Spark handles all large-scale transformations, while Airflow focuses purely on orchestration.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 summary, this project demonstrates a production-style batch ETL pipeline for financial market data.</a:t>
            </a:r>
          </a:p>
          <a:p>
            <a:endParaRPr lang="en-US"/>
          </a:p>
          <a:p>
            <a:r>
              <a:rPr lang="en-US"/>
              <a:t>It integrates raw data ingestion, automated quality validation, scalable transformations, and analytics-ready outputs using industry-standard tools.</a:t>
            </a:r>
          </a:p>
          <a:p>
            <a:endParaRPr lang="en-US"/>
          </a:p>
          <a:p>
            <a:r>
              <a:rPr lang="en-US"/>
              <a:t>The resulting datasets can support portfolio analysis, sector research, and downstream financial modeling in a reliable and reproducible way.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From a performance perspective, smarter partitioning strategies can be applied, such as partitioning by ticker and date ranges, to reduce scan costs for analytical queries.</a:t>
            </a:r>
          </a:p>
          <a:p>
            <a:endParaRPr lang="en-US"/>
          </a:p>
          <a:p>
            <a:r>
              <a:rPr lang="en-US"/>
              <a:t>Incremental processing could also be introduced so that only newly arrived market data is processed instead of reprocessing the full dataset each day.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From an infrastructure perspective, the pipeline can be migrated to cloud-native services, such as object storage and managed Spark platforms, to support larger data volumes and elastic scaling.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Thank you.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76275"/>
            <a:ext cx="92964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18288000" cy="9944100"/>
          </a:xfrm>
          <a:custGeom>
            <a:avLst/>
            <a:gdLst/>
            <a:ahLst/>
            <a:cxnLst/>
            <a:rect l="l" t="t" r="r" b="b"/>
            <a:pathLst>
              <a:path w="18288000" h="9944100">
                <a:moveTo>
                  <a:pt x="0" y="0"/>
                </a:moveTo>
                <a:lnTo>
                  <a:pt x="18288000" y="0"/>
                </a:lnTo>
                <a:lnTo>
                  <a:pt x="18288000" y="9944100"/>
                </a:lnTo>
                <a:lnTo>
                  <a:pt x="0" y="9944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4" name="Group 4"/>
          <p:cNvGrpSpPr/>
          <p:nvPr/>
        </p:nvGrpSpPr>
        <p:grpSpPr>
          <a:xfrm>
            <a:off x="271093" y="6777471"/>
            <a:ext cx="7282232" cy="3166629"/>
            <a:chOff x="0" y="0"/>
            <a:chExt cx="9709643" cy="4222172"/>
          </a:xfrm>
        </p:grpSpPr>
        <p:sp>
          <p:nvSpPr>
            <p:cNvPr id="5" name="TextBox 5"/>
            <p:cNvSpPr txBox="1"/>
            <p:nvPr/>
          </p:nvSpPr>
          <p:spPr>
            <a:xfrm>
              <a:off x="0" y="3663441"/>
              <a:ext cx="9182100" cy="55873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799" u="non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Presented by [Kaiqiang Zheng]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27543" y="228600"/>
              <a:ext cx="9182100" cy="233169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1260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3" name="AutoShape 3"/>
          <p:cNvSpPr/>
          <p:nvPr/>
        </p:nvSpPr>
        <p:spPr>
          <a:xfrm>
            <a:off x="0" y="9620250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18288000" cy="10036098"/>
          </a:xfrm>
          <a:custGeom>
            <a:avLst/>
            <a:gdLst/>
            <a:ahLst/>
            <a:cxnLst/>
            <a:rect l="l" t="t" r="r" b="b"/>
            <a:pathLst>
              <a:path w="18288000" h="10036098">
                <a:moveTo>
                  <a:pt x="0" y="0"/>
                </a:moveTo>
                <a:lnTo>
                  <a:pt x="18288000" y="0"/>
                </a:lnTo>
                <a:lnTo>
                  <a:pt x="18288000" y="10036098"/>
                </a:lnTo>
                <a:lnTo>
                  <a:pt x="0" y="100360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6652260"/>
          </a:xfrm>
          <a:custGeom>
            <a:avLst/>
            <a:gdLst/>
            <a:ahLst/>
            <a:cxnLst/>
            <a:rect l="l" t="t" r="r" b="b"/>
            <a:pathLst>
              <a:path w="18288000" h="6652260">
                <a:moveTo>
                  <a:pt x="0" y="0"/>
                </a:moveTo>
                <a:lnTo>
                  <a:pt x="18288000" y="0"/>
                </a:lnTo>
                <a:lnTo>
                  <a:pt x="18288000" y="6652260"/>
                </a:lnTo>
                <a:lnTo>
                  <a:pt x="0" y="6652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6789420"/>
          </a:xfrm>
          <a:custGeom>
            <a:avLst/>
            <a:gdLst/>
            <a:ahLst/>
            <a:cxnLst/>
            <a:rect l="l" t="t" r="r" b="b"/>
            <a:pathLst>
              <a:path w="18288000" h="6789420">
                <a:moveTo>
                  <a:pt x="0" y="0"/>
                </a:moveTo>
                <a:lnTo>
                  <a:pt x="18288000" y="0"/>
                </a:lnTo>
                <a:lnTo>
                  <a:pt x="18288000" y="6789420"/>
                </a:lnTo>
                <a:lnTo>
                  <a:pt x="0" y="67894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>
            <a:off x="0" y="6789420"/>
            <a:ext cx="18288000" cy="2805946"/>
          </a:xfrm>
          <a:custGeom>
            <a:avLst/>
            <a:gdLst/>
            <a:ahLst/>
            <a:cxnLst/>
            <a:rect l="l" t="t" r="r" b="b"/>
            <a:pathLst>
              <a:path w="18288000" h="2805946">
                <a:moveTo>
                  <a:pt x="0" y="0"/>
                </a:moveTo>
                <a:lnTo>
                  <a:pt x="18288000" y="0"/>
                </a:lnTo>
                <a:lnTo>
                  <a:pt x="18288000" y="2805946"/>
                </a:lnTo>
                <a:lnTo>
                  <a:pt x="0" y="28059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9829800"/>
          </a:xfrm>
          <a:custGeom>
            <a:avLst/>
            <a:gdLst/>
            <a:ahLst/>
            <a:cxnLst/>
            <a:rect l="l" t="t" r="r" b="b"/>
            <a:pathLst>
              <a:path w="18288000" h="9829800">
                <a:moveTo>
                  <a:pt x="0" y="0"/>
                </a:moveTo>
                <a:lnTo>
                  <a:pt x="18288000" y="0"/>
                </a:lnTo>
                <a:lnTo>
                  <a:pt x="18288000" y="9829800"/>
                </a:lnTo>
                <a:lnTo>
                  <a:pt x="0" y="9829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76275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3" name="AutoShape 3"/>
          <p:cNvSpPr/>
          <p:nvPr/>
        </p:nvSpPr>
        <p:spPr>
          <a:xfrm>
            <a:off x="0" y="9629775"/>
            <a:ext cx="18288000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>
            <a:off x="0" y="0"/>
            <a:ext cx="18288000" cy="10058400"/>
          </a:xfrm>
          <a:custGeom>
            <a:avLst/>
            <a:gdLst/>
            <a:ahLst/>
            <a:cxnLst/>
            <a:rect l="l" t="t" r="r" b="b"/>
            <a:pathLst>
              <a:path w="18288000" h="10058400">
                <a:moveTo>
                  <a:pt x="0" y="0"/>
                </a:moveTo>
                <a:lnTo>
                  <a:pt x="18288000" y="0"/>
                </a:lnTo>
                <a:lnTo>
                  <a:pt x="18288000" y="10058400"/>
                </a:lnTo>
                <a:lnTo>
                  <a:pt x="0" y="100584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263772"/>
            <a:ext cx="18288000" cy="9966960"/>
          </a:xfrm>
          <a:custGeom>
            <a:avLst/>
            <a:gdLst/>
            <a:ahLst/>
            <a:cxnLst/>
            <a:rect l="l" t="t" r="r" b="b"/>
            <a:pathLst>
              <a:path w="18288000" h="9966960">
                <a:moveTo>
                  <a:pt x="0" y="0"/>
                </a:moveTo>
                <a:lnTo>
                  <a:pt x="18288000" y="0"/>
                </a:lnTo>
                <a:lnTo>
                  <a:pt x="18288000" y="9966960"/>
                </a:lnTo>
                <a:lnTo>
                  <a:pt x="0" y="99669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575" y="0"/>
            <a:ext cx="18288000" cy="9898380"/>
          </a:xfrm>
          <a:custGeom>
            <a:avLst/>
            <a:gdLst/>
            <a:ahLst/>
            <a:cxnLst/>
            <a:rect l="l" t="t" r="r" b="b"/>
            <a:pathLst>
              <a:path w="18288000" h="9898380">
                <a:moveTo>
                  <a:pt x="0" y="0"/>
                </a:moveTo>
                <a:lnTo>
                  <a:pt x="18288000" y="0"/>
                </a:lnTo>
                <a:lnTo>
                  <a:pt x="18288000" y="9898380"/>
                </a:lnTo>
                <a:lnTo>
                  <a:pt x="0" y="98983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9806940"/>
          </a:xfrm>
          <a:custGeom>
            <a:avLst/>
            <a:gdLst/>
            <a:ahLst/>
            <a:cxnLst/>
            <a:rect l="l" t="t" r="r" b="b"/>
            <a:pathLst>
              <a:path w="18288000" h="9806940">
                <a:moveTo>
                  <a:pt x="0" y="0"/>
                </a:moveTo>
                <a:lnTo>
                  <a:pt x="18288000" y="0"/>
                </a:lnTo>
                <a:lnTo>
                  <a:pt x="18288000" y="9806940"/>
                </a:lnTo>
                <a:lnTo>
                  <a:pt x="0" y="9806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>
            <a:off x="11884209" y="1359382"/>
            <a:ext cx="5852743" cy="2684946"/>
          </a:xfrm>
          <a:custGeom>
            <a:avLst/>
            <a:gdLst/>
            <a:ahLst/>
            <a:cxnLst/>
            <a:rect l="l" t="t" r="r" b="b"/>
            <a:pathLst>
              <a:path w="5852743" h="2684946">
                <a:moveTo>
                  <a:pt x="0" y="0"/>
                </a:moveTo>
                <a:lnTo>
                  <a:pt x="5852742" y="0"/>
                </a:lnTo>
                <a:lnTo>
                  <a:pt x="5852742" y="2684945"/>
                </a:lnTo>
                <a:lnTo>
                  <a:pt x="0" y="26849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9852660"/>
          </a:xfrm>
          <a:custGeom>
            <a:avLst/>
            <a:gdLst/>
            <a:ahLst/>
            <a:cxnLst/>
            <a:rect l="l" t="t" r="r" b="b"/>
            <a:pathLst>
              <a:path w="18288000" h="9852660">
                <a:moveTo>
                  <a:pt x="0" y="0"/>
                </a:moveTo>
                <a:lnTo>
                  <a:pt x="18288000" y="0"/>
                </a:lnTo>
                <a:lnTo>
                  <a:pt x="18288000" y="9852660"/>
                </a:lnTo>
                <a:lnTo>
                  <a:pt x="0" y="98526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4328178"/>
            <a:ext cx="8115300" cy="1630644"/>
          </a:xfrm>
          <a:custGeom>
            <a:avLst/>
            <a:gdLst/>
            <a:ahLst/>
            <a:cxnLst/>
            <a:rect l="l" t="t" r="r" b="b"/>
            <a:pathLst>
              <a:path w="8115300" h="1630644">
                <a:moveTo>
                  <a:pt x="0" y="0"/>
                </a:moveTo>
                <a:lnTo>
                  <a:pt x="8115300" y="0"/>
                </a:lnTo>
                <a:lnTo>
                  <a:pt x="8115300" y="1630644"/>
                </a:lnTo>
                <a:lnTo>
                  <a:pt x="0" y="1630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>
            <a:off x="11000690" y="6953644"/>
            <a:ext cx="4401920" cy="2417239"/>
          </a:xfrm>
          <a:custGeom>
            <a:avLst/>
            <a:gdLst/>
            <a:ahLst/>
            <a:cxnLst/>
            <a:rect l="l" t="t" r="r" b="b"/>
            <a:pathLst>
              <a:path w="4401920" h="2417239">
                <a:moveTo>
                  <a:pt x="0" y="0"/>
                </a:moveTo>
                <a:lnTo>
                  <a:pt x="4401920" y="0"/>
                </a:lnTo>
                <a:lnTo>
                  <a:pt x="4401920" y="2417240"/>
                </a:lnTo>
                <a:lnTo>
                  <a:pt x="0" y="24172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4" name="Group 4"/>
          <p:cNvGrpSpPr/>
          <p:nvPr/>
        </p:nvGrpSpPr>
        <p:grpSpPr>
          <a:xfrm>
            <a:off x="1028700" y="1818522"/>
            <a:ext cx="7150347" cy="1785864"/>
            <a:chOff x="0" y="0"/>
            <a:chExt cx="9533795" cy="2381153"/>
          </a:xfrm>
        </p:grpSpPr>
        <p:sp>
          <p:nvSpPr>
            <p:cNvPr id="5" name="TextBox 5"/>
            <p:cNvSpPr txBox="1"/>
            <p:nvPr/>
          </p:nvSpPr>
          <p:spPr>
            <a:xfrm>
              <a:off x="0" y="-76200"/>
              <a:ext cx="9533795" cy="67602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58"/>
                </a:lnSpc>
                <a:spcBef>
                  <a:spcPct val="0"/>
                </a:spcBef>
              </a:pPr>
              <a:r>
                <a:rPr lang="en-US" sz="2970" b="1">
                  <a:solidFill>
                    <a:srgbClr val="0035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CI/CD READY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127147"/>
              <a:ext cx="9533795" cy="12540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01"/>
                </a:lnSpc>
                <a:spcBef>
                  <a:spcPct val="0"/>
                </a:spcBef>
              </a:pPr>
              <a:r>
                <a:rPr lang="en-US" sz="2715" b="1">
                  <a:solidFill>
                    <a:srgbClr val="2B2B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 project's design allows for easy integration into a GitHub Actions workflow.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7062990"/>
            <a:ext cx="7150347" cy="2307894"/>
            <a:chOff x="0" y="0"/>
            <a:chExt cx="9533795" cy="3077191"/>
          </a:xfrm>
        </p:grpSpPr>
        <p:sp>
          <p:nvSpPr>
            <p:cNvPr id="8" name="TextBox 8"/>
            <p:cNvSpPr txBox="1"/>
            <p:nvPr/>
          </p:nvSpPr>
          <p:spPr>
            <a:xfrm>
              <a:off x="0" y="-57150"/>
              <a:ext cx="9533795" cy="6693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243"/>
                </a:lnSpc>
                <a:spcBef>
                  <a:spcPct val="0"/>
                </a:spcBef>
              </a:pPr>
              <a:r>
                <a:rPr lang="en-US" sz="3031" b="1">
                  <a:solidFill>
                    <a:srgbClr val="00357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RESULT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1161410"/>
              <a:ext cx="9533795" cy="19157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79"/>
                </a:lnSpc>
                <a:spcBef>
                  <a:spcPct val="0"/>
                </a:spcBef>
              </a:pPr>
              <a:r>
                <a:rPr lang="en-US" sz="2771" b="1">
                  <a:solidFill>
                    <a:srgbClr val="2B2B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This creates a safety net, preventing quality regressions and ensuring only validated code reaches production.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28700" y="4204461"/>
            <a:ext cx="7150347" cy="2262028"/>
            <a:chOff x="0" y="0"/>
            <a:chExt cx="9533795" cy="3016038"/>
          </a:xfrm>
        </p:grpSpPr>
        <p:sp>
          <p:nvSpPr>
            <p:cNvPr id="11" name="TextBox 11"/>
            <p:cNvSpPr txBox="1"/>
            <p:nvPr/>
          </p:nvSpPr>
          <p:spPr>
            <a:xfrm>
              <a:off x="0" y="-57150"/>
              <a:ext cx="9533795" cy="65697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58"/>
                </a:lnSpc>
                <a:spcBef>
                  <a:spcPct val="0"/>
                </a:spcBef>
              </a:pPr>
              <a:r>
                <a:rPr lang="en-US" sz="2970" b="1">
                  <a:solidFill>
                    <a:srgbClr val="00357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AUTOMATION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1127147"/>
              <a:ext cx="9533795" cy="188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01"/>
                </a:lnSpc>
                <a:spcBef>
                  <a:spcPct val="0"/>
                </a:spcBef>
              </a:pPr>
              <a:r>
                <a:rPr lang="en-US" sz="2715" b="1">
                  <a:solidFill>
                    <a:srgbClr val="2B2B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Tests can be executed automatically on each commit or pull request before deployment.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75634"/>
            <a:ext cx="10248900" cy="1810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35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Unit Testing &amp; CI/CD Readiness</a:t>
            </a:r>
          </a:p>
          <a:p>
            <a:pPr algn="ctr">
              <a:lnSpc>
                <a:spcPts val="7279"/>
              </a:lnSpc>
            </a:pPr>
            <a:endParaRPr lang="en-US" sz="5199" b="1" dirty="0">
              <a:solidFill>
                <a:srgbClr val="00357A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9829800"/>
          </a:xfrm>
          <a:custGeom>
            <a:avLst/>
            <a:gdLst/>
            <a:ahLst/>
            <a:cxnLst/>
            <a:rect l="l" t="t" r="r" b="b"/>
            <a:pathLst>
              <a:path w="18288000" h="9829800">
                <a:moveTo>
                  <a:pt x="0" y="0"/>
                </a:moveTo>
                <a:lnTo>
                  <a:pt x="18288000" y="0"/>
                </a:lnTo>
                <a:lnTo>
                  <a:pt x="18288000" y="9829800"/>
                </a:lnTo>
                <a:lnTo>
                  <a:pt x="0" y="98298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9944100"/>
          </a:xfrm>
          <a:custGeom>
            <a:avLst/>
            <a:gdLst/>
            <a:ahLst/>
            <a:cxnLst/>
            <a:rect l="l" t="t" r="r" b="b"/>
            <a:pathLst>
              <a:path w="18288000" h="9944100">
                <a:moveTo>
                  <a:pt x="0" y="0"/>
                </a:moveTo>
                <a:lnTo>
                  <a:pt x="18288000" y="0"/>
                </a:lnTo>
                <a:lnTo>
                  <a:pt x="18288000" y="9944100"/>
                </a:lnTo>
                <a:lnTo>
                  <a:pt x="0" y="99441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917269" y="2150288"/>
            <a:ext cx="5832821" cy="2900386"/>
          </a:xfrm>
          <a:custGeom>
            <a:avLst/>
            <a:gdLst/>
            <a:ahLst/>
            <a:cxnLst/>
            <a:rect l="l" t="t" r="r" b="b"/>
            <a:pathLst>
              <a:path w="5832821" h="2900386">
                <a:moveTo>
                  <a:pt x="0" y="0"/>
                </a:moveTo>
                <a:lnTo>
                  <a:pt x="5832821" y="0"/>
                </a:lnTo>
                <a:lnTo>
                  <a:pt x="5832821" y="2900386"/>
                </a:lnTo>
                <a:lnTo>
                  <a:pt x="0" y="2900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AutoShape 3"/>
          <p:cNvSpPr/>
          <p:nvPr/>
        </p:nvSpPr>
        <p:spPr>
          <a:xfrm>
            <a:off x="622450" y="5727445"/>
            <a:ext cx="16636850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  <p:sp>
        <p:nvSpPr>
          <p:cNvPr id="4" name="Freeform 4"/>
          <p:cNvSpPr/>
          <p:nvPr/>
        </p:nvSpPr>
        <p:spPr>
          <a:xfrm>
            <a:off x="10917269" y="6403720"/>
            <a:ext cx="5931019" cy="2854580"/>
          </a:xfrm>
          <a:custGeom>
            <a:avLst/>
            <a:gdLst/>
            <a:ahLst/>
            <a:cxnLst/>
            <a:rect l="l" t="t" r="r" b="b"/>
            <a:pathLst>
              <a:path w="5931019" h="2854580">
                <a:moveTo>
                  <a:pt x="0" y="0"/>
                </a:moveTo>
                <a:lnTo>
                  <a:pt x="5931019" y="0"/>
                </a:lnTo>
                <a:lnTo>
                  <a:pt x="5931019" y="2854580"/>
                </a:lnTo>
                <a:lnTo>
                  <a:pt x="0" y="2854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5" name="Group 5"/>
          <p:cNvGrpSpPr/>
          <p:nvPr/>
        </p:nvGrpSpPr>
        <p:grpSpPr>
          <a:xfrm>
            <a:off x="1028700" y="1755221"/>
            <a:ext cx="8864861" cy="3688997"/>
            <a:chOff x="0" y="0"/>
            <a:chExt cx="11819815" cy="4918663"/>
          </a:xfrm>
        </p:grpSpPr>
        <p:sp>
          <p:nvSpPr>
            <p:cNvPr id="6" name="TextBox 6"/>
            <p:cNvSpPr txBox="1"/>
            <p:nvPr/>
          </p:nvSpPr>
          <p:spPr>
            <a:xfrm>
              <a:off x="0" y="-76200"/>
              <a:ext cx="11819815" cy="674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58"/>
                </a:lnSpc>
                <a:spcBef>
                  <a:spcPct val="0"/>
                </a:spcBef>
              </a:pPr>
              <a:r>
                <a:rPr lang="en-US" sz="2970" b="1">
                  <a:solidFill>
                    <a:srgbClr val="0035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Initiatives 1: Smart Partitioning 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1125118"/>
              <a:ext cx="11819815" cy="3793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01"/>
                </a:lnSpc>
                <a:spcBef>
                  <a:spcPct val="0"/>
                </a:spcBef>
              </a:pPr>
              <a:r>
                <a:rPr lang="en-US" sz="2715" b="1" dirty="0">
                  <a:solidFill>
                    <a:srgbClr val="2B2B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Action: Partition data by key dimensions like ticker and date ranges.</a:t>
              </a:r>
            </a:p>
            <a:p>
              <a:pPr marL="0" lvl="0" indent="0" algn="l">
                <a:lnSpc>
                  <a:spcPts val="3801"/>
                </a:lnSpc>
                <a:spcBef>
                  <a:spcPct val="0"/>
                </a:spcBef>
              </a:pPr>
              <a:endParaRPr lang="en-US" sz="2715" b="1" dirty="0">
                <a:solidFill>
                  <a:srgbClr val="2B2B2B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marL="0" lvl="0" indent="0" algn="l">
                <a:lnSpc>
                  <a:spcPts val="3801"/>
                </a:lnSpc>
                <a:spcBef>
                  <a:spcPct val="0"/>
                </a:spcBef>
              </a:pPr>
              <a:r>
                <a:rPr lang="en-US" sz="2715" b="1" dirty="0">
                  <a:solidFill>
                    <a:srgbClr val="2B2B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Impact: Significantly reduces scan costs for common analytical queries, making data access faster and cheaper.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339405"/>
            <a:ext cx="7429500" cy="1810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35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Tactical Optimizations</a:t>
            </a:r>
          </a:p>
          <a:p>
            <a:pPr algn="ctr">
              <a:lnSpc>
                <a:spcPts val="7279"/>
              </a:lnSpc>
            </a:pPr>
            <a:endParaRPr lang="en-US" sz="5199" b="1" dirty="0">
              <a:solidFill>
                <a:srgbClr val="00357A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028700" y="6168188"/>
            <a:ext cx="8864861" cy="3688997"/>
            <a:chOff x="0" y="0"/>
            <a:chExt cx="11819815" cy="491866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-76200"/>
              <a:ext cx="11819815" cy="674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58"/>
                </a:lnSpc>
                <a:spcBef>
                  <a:spcPct val="0"/>
                </a:spcBef>
              </a:pPr>
              <a:r>
                <a:rPr lang="en-US" sz="2970" b="1">
                  <a:solidFill>
                    <a:srgbClr val="0035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Initiatives 2: Incremental Processing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125118"/>
              <a:ext cx="11819815" cy="37935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01"/>
                </a:lnSpc>
              </a:pPr>
              <a:r>
                <a:rPr lang="en-US" sz="2715" b="1">
                  <a:solidFill>
                    <a:srgbClr val="2B2B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Action: Re-architect jobs to process only newly arrived market data.</a:t>
              </a:r>
            </a:p>
            <a:p>
              <a:pPr algn="l">
                <a:lnSpc>
                  <a:spcPts val="3801"/>
                </a:lnSpc>
              </a:pPr>
              <a:endParaRPr lang="en-US" sz="2715" b="1">
                <a:solidFill>
                  <a:srgbClr val="2B2B2B"/>
                </a:solidFill>
                <a:latin typeface="Arial Bold"/>
                <a:ea typeface="Arial Bold"/>
                <a:cs typeface="Arial Bold"/>
                <a:sym typeface="Arial Bold"/>
              </a:endParaRPr>
            </a:p>
            <a:p>
              <a:pPr marL="0" lvl="0" indent="0" algn="l">
                <a:lnSpc>
                  <a:spcPts val="3801"/>
                </a:lnSpc>
                <a:spcBef>
                  <a:spcPct val="0"/>
                </a:spcBef>
              </a:pPr>
              <a:r>
                <a:rPr lang="en-US" sz="2715" b="1">
                  <a:solidFill>
                    <a:srgbClr val="2B2B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Impact: Eliminates the need to reprocess the full dataset each day, drastically cutting down on compute time and resource consumption.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151066" y="688472"/>
            <a:ext cx="4158053" cy="1461815"/>
          </a:xfrm>
          <a:custGeom>
            <a:avLst/>
            <a:gdLst/>
            <a:ahLst/>
            <a:cxnLst/>
            <a:rect l="l" t="t" r="r" b="b"/>
            <a:pathLst>
              <a:path w="4158053" h="1461815">
                <a:moveTo>
                  <a:pt x="0" y="0"/>
                </a:moveTo>
                <a:lnTo>
                  <a:pt x="4158052" y="0"/>
                </a:lnTo>
                <a:lnTo>
                  <a:pt x="4158052" y="1461816"/>
                </a:lnTo>
                <a:lnTo>
                  <a:pt x="0" y="14618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sp>
        <p:nvSpPr>
          <p:cNvPr id="3" name="Freeform 3"/>
          <p:cNvSpPr/>
          <p:nvPr/>
        </p:nvSpPr>
        <p:spPr>
          <a:xfrm>
            <a:off x="11168679" y="2950732"/>
            <a:ext cx="6122826" cy="6434912"/>
          </a:xfrm>
          <a:custGeom>
            <a:avLst/>
            <a:gdLst/>
            <a:ahLst/>
            <a:cxnLst/>
            <a:rect l="l" t="t" r="r" b="b"/>
            <a:pathLst>
              <a:path w="6122826" h="6434912">
                <a:moveTo>
                  <a:pt x="0" y="0"/>
                </a:moveTo>
                <a:lnTo>
                  <a:pt x="6122826" y="0"/>
                </a:lnTo>
                <a:lnTo>
                  <a:pt x="6122826" y="6434912"/>
                </a:lnTo>
                <a:lnTo>
                  <a:pt x="0" y="64349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CA"/>
          </a:p>
        </p:txBody>
      </p:sp>
      <p:grpSp>
        <p:nvGrpSpPr>
          <p:cNvPr id="4" name="Group 4"/>
          <p:cNvGrpSpPr/>
          <p:nvPr/>
        </p:nvGrpSpPr>
        <p:grpSpPr>
          <a:xfrm>
            <a:off x="1028700" y="1755221"/>
            <a:ext cx="8864861" cy="3212834"/>
            <a:chOff x="0" y="0"/>
            <a:chExt cx="11819815" cy="4283778"/>
          </a:xfrm>
        </p:grpSpPr>
        <p:sp>
          <p:nvSpPr>
            <p:cNvPr id="5" name="TextBox 5"/>
            <p:cNvSpPr txBox="1"/>
            <p:nvPr/>
          </p:nvSpPr>
          <p:spPr>
            <a:xfrm>
              <a:off x="0" y="-76200"/>
              <a:ext cx="11819815" cy="674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58"/>
                </a:lnSpc>
                <a:spcBef>
                  <a:spcPct val="0"/>
                </a:spcBef>
              </a:pPr>
              <a:r>
                <a:rPr lang="en-US" sz="2970" b="1">
                  <a:solidFill>
                    <a:srgbClr val="0035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Initiatives 1: Migrate to Object Storage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1125118"/>
              <a:ext cx="11819815" cy="3158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801"/>
                </a:lnSpc>
                <a:spcBef>
                  <a:spcPct val="0"/>
                </a:spcBef>
              </a:pPr>
              <a:r>
                <a:rPr lang="en-US" sz="2715" b="1">
                  <a:solidFill>
                    <a:srgbClr val="2B2B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Action: Move data persistence from traditional storage to a cloud-based object store.</a:t>
              </a:r>
            </a:p>
            <a:p>
              <a:pPr marL="0" lvl="0" indent="0" algn="l">
                <a:lnSpc>
                  <a:spcPts val="3801"/>
                </a:lnSpc>
                <a:spcBef>
                  <a:spcPct val="0"/>
                </a:spcBef>
              </a:pPr>
              <a:r>
                <a:rPr lang="en-US" sz="2715" b="1">
                  <a:solidFill>
                    <a:srgbClr val="2B2B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Platforms: S3, ADLS, or GCS.</a:t>
              </a:r>
            </a:p>
            <a:p>
              <a:pPr marL="0" lvl="0" indent="0" algn="l">
                <a:lnSpc>
                  <a:spcPts val="3801"/>
                </a:lnSpc>
                <a:spcBef>
                  <a:spcPct val="0"/>
                </a:spcBef>
              </a:pPr>
              <a:r>
                <a:rPr lang="en-US" sz="2715" b="1">
                  <a:solidFill>
                    <a:srgbClr val="2B2B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Impact: Enables support for massive data volumes with superior scalability and durability.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699" y="339405"/>
            <a:ext cx="5108235" cy="1810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357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Improvements</a:t>
            </a:r>
          </a:p>
          <a:p>
            <a:pPr algn="ctr">
              <a:lnSpc>
                <a:spcPts val="7279"/>
              </a:lnSpc>
            </a:pPr>
            <a:endParaRPr lang="en-US" sz="5199" b="1" dirty="0">
              <a:solidFill>
                <a:srgbClr val="00357A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028700" y="5768621"/>
            <a:ext cx="8864861" cy="4165161"/>
            <a:chOff x="0" y="0"/>
            <a:chExt cx="11819815" cy="5553548"/>
          </a:xfrm>
        </p:grpSpPr>
        <p:sp>
          <p:nvSpPr>
            <p:cNvPr id="9" name="TextBox 9"/>
            <p:cNvSpPr txBox="1"/>
            <p:nvPr/>
          </p:nvSpPr>
          <p:spPr>
            <a:xfrm>
              <a:off x="0" y="-76200"/>
              <a:ext cx="11819815" cy="6740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158"/>
                </a:lnSpc>
                <a:spcBef>
                  <a:spcPct val="0"/>
                </a:spcBef>
              </a:pPr>
              <a:r>
                <a:rPr lang="en-US" sz="2970" b="1">
                  <a:solidFill>
                    <a:srgbClr val="00357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Initiatives 2: Adopt Managed Platforms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125118"/>
              <a:ext cx="11819815" cy="44284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801"/>
                </a:lnSpc>
              </a:pPr>
              <a:r>
                <a:rPr lang="en-US" sz="2715" b="1">
                  <a:solidFill>
                    <a:srgbClr val="2B2B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Action: Leverage managed Spark and Airflow services. </a:t>
              </a:r>
            </a:p>
            <a:p>
              <a:pPr algn="l">
                <a:lnSpc>
                  <a:spcPts val="3801"/>
                </a:lnSpc>
              </a:pPr>
              <a:r>
                <a:rPr lang="en-US" sz="2715" b="1">
                  <a:solidFill>
                    <a:srgbClr val="2B2B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Platforms: Databricks or EMR for Spark; Managed Airflow.</a:t>
              </a:r>
            </a:p>
            <a:p>
              <a:pPr marL="0" lvl="0" indent="0" algn="l">
                <a:lnSpc>
                  <a:spcPts val="3801"/>
                </a:lnSpc>
                <a:spcBef>
                  <a:spcPct val="0"/>
                </a:spcBef>
              </a:pPr>
              <a:r>
                <a:rPr lang="en-US" sz="2715" b="1">
                  <a:solidFill>
                    <a:srgbClr val="2B2B2B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Impact: Provides elastic scaling on demand, reduces infrastructure management overhead, and improves overall platform resilience.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>
            <a:off x="1028700" y="5369099"/>
            <a:ext cx="8822331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746657"/>
            <a:ext cx="12109796" cy="5235496"/>
            <a:chOff x="0" y="0"/>
            <a:chExt cx="16146395" cy="6980661"/>
          </a:xfrm>
        </p:grpSpPr>
        <p:sp>
          <p:nvSpPr>
            <p:cNvPr id="3" name="TextBox 3"/>
            <p:cNvSpPr txBox="1"/>
            <p:nvPr/>
          </p:nvSpPr>
          <p:spPr>
            <a:xfrm>
              <a:off x="0" y="400050"/>
              <a:ext cx="16146395" cy="393576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1337"/>
                </a:lnSpc>
              </a:pPr>
              <a:r>
                <a:rPr lang="en-US" sz="21337" spc="-426">
                  <a:solidFill>
                    <a:srgbClr val="000000"/>
                  </a:solidFill>
                  <a:latin typeface="Noto Serif Display ExtraCondensed Light"/>
                  <a:ea typeface="Noto Serif Display ExtraCondensed Light"/>
                  <a:cs typeface="Noto Serif Display ExtraCondensed Light"/>
                  <a:sym typeface="Noto Serif Display ExtraCondensed Light"/>
                </a:rPr>
                <a:t>Thank You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5294828"/>
              <a:ext cx="16146395" cy="16858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5011"/>
                </a:lnSpc>
              </a:pPr>
              <a:r>
                <a:rPr lang="en-US" sz="4176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</a:t>
              </a:r>
              <a:r>
                <a:rPr lang="en-US" sz="4176" u="none" strike="noStrike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ppreciate your attention and welcome any further questions regarding the presentation.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1214</Words>
  <Application>Microsoft Office PowerPoint</Application>
  <PresentationFormat>Custom</PresentationFormat>
  <Paragraphs>147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HK Grotesk</vt:lpstr>
      <vt:lpstr>Canva Sans Bold</vt:lpstr>
      <vt:lpstr>Clear Sans Medium</vt:lpstr>
      <vt:lpstr>Noto Serif Display ExtraCondensed Light</vt:lpstr>
      <vt:lpstr>Calibri</vt:lpstr>
      <vt:lpstr>Arial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Architecture</dc:title>
  <dc:description>Presentation - Architecture</dc:description>
  <cp:lastModifiedBy>Kaiqiang Zheng</cp:lastModifiedBy>
  <cp:revision>2</cp:revision>
  <dcterms:created xsi:type="dcterms:W3CDTF">2006-08-16T00:00:00Z</dcterms:created>
  <dcterms:modified xsi:type="dcterms:W3CDTF">2026-01-05T02:44:23Z</dcterms:modified>
  <dc:identifier>DAG9DZ09NmA</dc:identifier>
</cp:coreProperties>
</file>